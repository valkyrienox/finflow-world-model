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84" r:id="rId4"/>
    <p:sldId id="269" r:id="rId6"/>
    <p:sldId id="257" r:id="rId7"/>
    <p:sldId id="280" r:id="rId8"/>
    <p:sldId id="258" r:id="rId9"/>
    <p:sldId id="267" r:id="rId10"/>
    <p:sldId id="259" r:id="rId11"/>
    <p:sldId id="283" r:id="rId12"/>
    <p:sldId id="268" r:id="rId13"/>
    <p:sldId id="281" r:id="rId14"/>
    <p:sldId id="272" r:id="rId15"/>
    <p:sldId id="273" r:id="rId16"/>
    <p:sldId id="274" r:id="rId17"/>
    <p:sldId id="289" r:id="rId18"/>
    <p:sldId id="262" r:id="rId19"/>
    <p:sldId id="282" r:id="rId20"/>
    <p:sldId id="276" r:id="rId21"/>
    <p:sldId id="290" r:id="rId22"/>
    <p:sldId id="277" r:id="rId23"/>
    <p:sldId id="285" r:id="rId24"/>
    <p:sldId id="278" r:id="rId25"/>
    <p:sldId id="264" r:id="rId26"/>
    <p:sldId id="286" r:id="rId27"/>
    <p:sldId id="287" r:id="rId28"/>
    <p:sldId id="288" r:id="rId29"/>
    <p:sldId id="266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B5A6"/>
    <a:srgbClr val="C2E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75" autoAdjust="0"/>
    <p:restoredTop sz="94610"/>
  </p:normalViewPr>
  <p:slideViewPr>
    <p:cSldViewPr snapToGrid="0" snapToObjects="1" showGuides="1">
      <p:cViewPr varScale="1">
        <p:scale>
          <a:sx n="74" d="100"/>
          <a:sy n="74" d="100"/>
        </p:scale>
        <p:origin x="279" y="36"/>
      </p:cViewPr>
      <p:guideLst>
        <p:guide orient="horz" pos="240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gs/title_str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33" y="3747770"/>
            <a:ext cx="12318951" cy="31531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254523" cy="3977640"/>
          </a:xfrm>
          <a:prstGeom prst="rect">
            <a:avLst/>
          </a:prstGeom>
          <a:solidFill>
            <a:srgbClr val="0B1A30"/>
          </a:solidFill>
        </p:spPr>
      </p:sp>
      <p:sp>
        <p:nvSpPr>
          <p:cNvPr id="4" name="Shape 1"/>
          <p:cNvSpPr/>
          <p:nvPr/>
        </p:nvSpPr>
        <p:spPr>
          <a:xfrm>
            <a:off x="658368" y="603504"/>
            <a:ext cx="164592" cy="164592"/>
          </a:xfrm>
          <a:prstGeom prst="ellipse">
            <a:avLst/>
          </a:prstGeom>
          <a:solidFill>
            <a:srgbClr val="34A56F"/>
          </a:solidFill>
        </p:spPr>
      </p:sp>
      <p:sp>
        <p:nvSpPr>
          <p:cNvPr id="5" name="Shape 2"/>
          <p:cNvSpPr/>
          <p:nvPr/>
        </p:nvSpPr>
        <p:spPr>
          <a:xfrm>
            <a:off x="932688" y="603504"/>
            <a:ext cx="164592" cy="164592"/>
          </a:xfrm>
          <a:prstGeom prst="ellipse">
            <a:avLst/>
          </a:prstGeom>
          <a:solidFill>
            <a:srgbClr val="F2A33C"/>
          </a:solidFill>
        </p:spPr>
      </p:sp>
      <p:sp>
        <p:nvSpPr>
          <p:cNvPr id="6" name="Shape 3"/>
          <p:cNvSpPr/>
          <p:nvPr/>
        </p:nvSpPr>
        <p:spPr>
          <a:xfrm>
            <a:off x="1207008" y="603504"/>
            <a:ext cx="164592" cy="164592"/>
          </a:xfrm>
          <a:prstGeom prst="ellipse">
            <a:avLst/>
          </a:prstGeom>
          <a:solidFill>
            <a:srgbClr val="E15554"/>
          </a:solidFill>
        </p:spPr>
      </p:sp>
      <p:sp>
        <p:nvSpPr>
          <p:cNvPr id="7" name="Text 4"/>
          <p:cNvSpPr/>
          <p:nvPr/>
        </p:nvSpPr>
        <p:spPr>
          <a:xfrm>
            <a:off x="1417320" y="5029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基于深度学习的内容生成原理与方法 · 课程报告</a:t>
            </a:r>
            <a:endParaRPr 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691590"/>
            <a:ext cx="10972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区制切换市场的</a:t>
            </a:r>
            <a:r>
              <a:rPr lang="zh-CN" altLang="en-US" sz="4000" b="1" dirty="0" err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动作条件</a:t>
            </a:r>
            <a:r>
              <a:rPr lang="en-US" sz="4000" b="1" dirty="0" err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流匹配世界模型</a:t>
            </a:r>
            <a:br>
              <a:rPr lang="en-US" sz="4000" b="1" dirty="0" err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</a:b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" y="2788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22545" y="3481070"/>
            <a:ext cx="1767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 err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谢若涵 张心一</a:t>
            </a:r>
            <a:endParaRPr lang="en-US" b="1" dirty="0" err="1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  <a:cs typeface="Noto Sans CJK JP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78708" y="3626098"/>
            <a:ext cx="9034584" cy="0"/>
          </a:xfrm>
          <a:prstGeom prst="line">
            <a:avLst/>
          </a:prstGeom>
          <a:ln w="28575">
            <a:solidFill>
              <a:srgbClr val="15B5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0"/>
          <p:cNvSpPr/>
          <p:nvPr/>
        </p:nvSpPr>
        <p:spPr>
          <a:xfrm>
            <a:off x="1578708" y="2905373"/>
            <a:ext cx="903458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背景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生成一个金融市场</a:t>
            </a:r>
            <a:endParaRPr 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7607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问题：为什么要“生成一个市场”，</a:t>
            </a:r>
            <a:r>
              <a:rPr lang="en-US" sz="2400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而不只是画一条收益曲线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480" y="1433308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「</a:t>
            </a:r>
            <a:r>
              <a:rPr lang="en-US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如果接下来是一段崩盘，我的期权组合会怎样</a:t>
            </a: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？</a:t>
            </a: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我们需要模拟更多情景数据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6003" y="1904809"/>
            <a:ext cx="9916551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这类极端情景在历史数据里稀少、且无法重放</a:t>
            </a:r>
            <a:r>
              <a:rPr lang="en-US" sz="1600" dirty="0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en-US" sz="1600" dirty="0" err="1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我们需要一个能被“驱动”进入指定情景的市场模拟器</a:t>
            </a:r>
            <a:r>
              <a:rPr lang="en-US" sz="1600" dirty="0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sz="1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66800" y="3889057"/>
            <a:ext cx="49377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5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4186" y="3014089"/>
            <a:ext cx="10463628" cy="3113173"/>
          </a:xfrm>
          <a:prstGeom prst="rect">
            <a:avLst/>
          </a:prstGeom>
          <a:noFill/>
          <a:ln>
            <a:solidFill>
              <a:srgbClr val="15B5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4186" y="2594708"/>
            <a:ext cx="10463628" cy="343877"/>
          </a:xfrm>
          <a:prstGeom prst="rect">
            <a:avLst/>
          </a:prstGeom>
          <a:solidFill>
            <a:srgbClr val="15B5A6"/>
          </a:solidFill>
          <a:ln>
            <a:solidFill>
              <a:srgbClr val="15B5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世界金融模型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864186" y="3006127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市场模拟器的硬性条件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1284458" y="3532491"/>
            <a:ext cx="2763911" cy="2367115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8100000" algn="bl" rotWithShape="0">
              <a:srgbClr val="1A2A40">
                <a:alpha val="16000"/>
              </a:srgbClr>
            </a:outerShdw>
          </a:effectLst>
        </p:spPr>
      </p:sp>
      <p:sp>
        <p:nvSpPr>
          <p:cNvPr id="22" name="Shape 2"/>
          <p:cNvSpPr/>
          <p:nvPr/>
        </p:nvSpPr>
        <p:spPr>
          <a:xfrm>
            <a:off x="1284459" y="3532491"/>
            <a:ext cx="91440" cy="2367115"/>
          </a:xfrm>
          <a:prstGeom prst="roundRect">
            <a:avLst>
              <a:gd name="adj" fmla="val 50000"/>
            </a:avLst>
          </a:prstGeom>
          <a:solidFill>
            <a:srgbClr val="34A56F"/>
          </a:solidFill>
        </p:spPr>
      </p:sp>
      <p:sp>
        <p:nvSpPr>
          <p:cNvPr id="23" name="Shape 7"/>
          <p:cNvSpPr/>
          <p:nvPr/>
        </p:nvSpPr>
        <p:spPr>
          <a:xfrm>
            <a:off x="4659529" y="3509046"/>
            <a:ext cx="2763911" cy="239056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8100000" algn="bl" rotWithShape="0">
              <a:srgbClr val="1A2A40">
                <a:alpha val="16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Shape 8"/>
          <p:cNvSpPr/>
          <p:nvPr/>
        </p:nvSpPr>
        <p:spPr>
          <a:xfrm>
            <a:off x="4659529" y="3509046"/>
            <a:ext cx="91440" cy="2390560"/>
          </a:xfrm>
          <a:prstGeom prst="roundRect">
            <a:avLst>
              <a:gd name="adj" fmla="val 50000"/>
            </a:avLst>
          </a:prstGeom>
          <a:solidFill>
            <a:srgbClr val="2E6BE6"/>
          </a:solidFill>
        </p:spPr>
      </p:sp>
      <p:sp>
        <p:nvSpPr>
          <p:cNvPr id="27" name="Text 5"/>
          <p:cNvSpPr/>
          <p:nvPr/>
        </p:nvSpPr>
        <p:spPr>
          <a:xfrm>
            <a:off x="1556043" y="3711646"/>
            <a:ext cx="205075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可控 Controllable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883443" y="3711646"/>
            <a:ext cx="212852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自洽 Self-consistent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8056095" y="3509046"/>
            <a:ext cx="2763911" cy="239056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8100000" algn="bl" rotWithShape="0">
              <a:srgbClr val="1A2A40">
                <a:alpha val="16000"/>
              </a:srgbClr>
            </a:outerShdw>
          </a:effectLst>
        </p:spPr>
      </p:sp>
      <p:sp>
        <p:nvSpPr>
          <p:cNvPr id="31" name="Shape 14"/>
          <p:cNvSpPr/>
          <p:nvPr/>
        </p:nvSpPr>
        <p:spPr>
          <a:xfrm>
            <a:off x="8056095" y="3509046"/>
            <a:ext cx="91440" cy="2390560"/>
          </a:xfrm>
          <a:prstGeom prst="roundRect">
            <a:avLst>
              <a:gd name="adj" fmla="val 50000"/>
            </a:avLst>
          </a:prstGeom>
          <a:solidFill>
            <a:srgbClr val="F2A33C"/>
          </a:solidFill>
        </p:spPr>
      </p:sp>
      <p:sp>
        <p:nvSpPr>
          <p:cNvPr id="29" name="Text 17"/>
          <p:cNvSpPr/>
          <p:nvPr/>
        </p:nvSpPr>
        <p:spPr>
          <a:xfrm>
            <a:off x="8284688" y="3711646"/>
            <a:ext cx="225044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金融保真 Faithful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415855" y="4259108"/>
            <a:ext cx="25911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使用者要能指定情景这要求模型是动作条件的：一个外部智能体在每一步设定市场区制，模型据此响应。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b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786140" y="4259108"/>
            <a:ext cx="25911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在自由演化下展开很长的时间跨度（我们用一个交易年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= 252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步）而不崩坏。</a:t>
            </a:r>
            <a:b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184963" y="4259108"/>
            <a:ext cx="2591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生成路径上算出的衍生品价格要对。这与” 边际直方图像不像” 并不等价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78708" y="3626098"/>
            <a:ext cx="9034584" cy="0"/>
          </a:xfrm>
          <a:prstGeom prst="line">
            <a:avLst/>
          </a:prstGeom>
          <a:ln w="28575">
            <a:solidFill>
              <a:srgbClr val="15B5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0"/>
          <p:cNvSpPr/>
          <p:nvPr/>
        </p:nvSpPr>
        <p:spPr>
          <a:xfrm>
            <a:off x="1578708" y="2905373"/>
            <a:ext cx="903458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概述：生成一个什么金融市场？什么是好的金融市场？</a:t>
            </a:r>
            <a:endParaRPr 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868680" y="57607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金融市场生成与金融市场的特征？</a:t>
            </a:r>
            <a:endParaRPr 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6" name="Image 0" descr="/home/claude/figs/kurto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29000"/>
            <a:ext cx="5066671" cy="2872589"/>
          </a:xfrm>
          <a:prstGeom prst="rect">
            <a:avLst/>
          </a:prstGeom>
        </p:spPr>
      </p:pic>
      <p:sp>
        <p:nvSpPr>
          <p:cNvPr id="27" name="Text 3"/>
          <p:cNvSpPr/>
          <p:nvPr/>
        </p:nvSpPr>
        <p:spPr>
          <a:xfrm>
            <a:off x="711199" y="1630057"/>
            <a:ext cx="615852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生成指标</a:t>
            </a:r>
            <a:endParaRPr lang="en-US" dirty="0">
              <a:solidFill>
                <a:srgbClr val="15B5A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3"/>
          <p:cNvSpPr/>
          <p:nvPr/>
        </p:nvSpPr>
        <p:spPr>
          <a:xfrm>
            <a:off x="711198" y="2926080"/>
            <a:ext cx="615852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金融市场数据的特征</a:t>
            </a:r>
            <a:endParaRPr lang="en-US" dirty="0">
              <a:solidFill>
                <a:srgbClr val="15B5A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873529" y="2235204"/>
            <a:ext cx="844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我们期望生成在不同市场区制下，期权以及其标的资产的价格、收益率、波动率。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429000"/>
            <a:ext cx="4867880" cy="296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868680" y="57607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数据来源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Heston Model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的蒙特卡洛采样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 3"/>
          <p:cNvSpPr/>
          <p:nvPr/>
        </p:nvSpPr>
        <p:spPr>
          <a:xfrm>
            <a:off x="711200" y="1546321"/>
            <a:ext cx="526509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刻画收益与变化的波动率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417" y="1882325"/>
            <a:ext cx="10450383" cy="17052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1424" y="3518682"/>
            <a:ext cx="526509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参数解释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65" y="4021602"/>
            <a:ext cx="676369" cy="6096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424" y="4127133"/>
            <a:ext cx="428685" cy="45726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30417" y="5241217"/>
            <a:ext cx="1039446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三个区制的参数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(κ, θ, ξ, ρ, µ)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分别为 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(2, 0.04, 0.3, -0.7, 0.05)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(3, 0.09, 0.5, -0.7, 0.05)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(4, 0.16, 0.8, -0.7, -0.2)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</a:t>
            </a:r>
            <a:b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21169" y="4217989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偏离均值之后的回复速度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65219" y="421439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波动率的均值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3445" y="594360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区制驱动下的价格生成</a:t>
            </a:r>
            <a:endParaRPr 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2673" y="1527127"/>
            <a:ext cx="5532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en-US" b="1" dirty="0" err="1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叠加三区制</a:t>
            </a:r>
            <a:r>
              <a:rPr lang="zh-CN" altLang="en-US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切</a:t>
            </a:r>
            <a:r>
              <a:rPr lang="en-US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换：</a:t>
            </a:r>
            <a:endParaRPr lang="en-US" dirty="0">
              <a:solidFill>
                <a:srgbClr val="15B5A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27439" y="5305450"/>
            <a:ext cx="164592" cy="164592"/>
          </a:xfrm>
          <a:prstGeom prst="ellipse">
            <a:avLst/>
          </a:prstGeom>
          <a:solidFill>
            <a:srgbClr val="34A56F"/>
          </a:solidFill>
        </p:spPr>
      </p:sp>
      <p:sp>
        <p:nvSpPr>
          <p:cNvPr id="6" name="Text 4"/>
          <p:cNvSpPr/>
          <p:nvPr/>
        </p:nvSpPr>
        <p:spPr>
          <a:xfrm>
            <a:off x="1476710" y="5176018"/>
            <a:ext cx="19095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正常：</a:t>
            </a:r>
            <a:r>
              <a:rPr lang="en-US" sz="1600" dirty="0" err="1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温和上行</a:t>
            </a:r>
            <a:endParaRPr 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02774" y="5327825"/>
            <a:ext cx="164592" cy="164592"/>
          </a:xfrm>
          <a:prstGeom prst="ellipse">
            <a:avLst/>
          </a:prstGeom>
          <a:solidFill>
            <a:srgbClr val="F2A33C"/>
          </a:solidFill>
        </p:spPr>
      </p:sp>
      <p:sp>
        <p:nvSpPr>
          <p:cNvPr id="8" name="Text 6"/>
          <p:cNvSpPr/>
          <p:nvPr/>
        </p:nvSpPr>
        <p:spPr>
          <a:xfrm>
            <a:off x="3752045" y="5198393"/>
            <a:ext cx="363753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高波动：</a:t>
            </a:r>
            <a:r>
              <a:rPr lang="en-US" sz="1600" dirty="0" err="1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长期方差θ与</a:t>
            </a:r>
            <a:r>
              <a:rPr lang="en-US" sz="1600" dirty="0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 ξ 同时抬高</a:t>
            </a:r>
            <a:endParaRPr 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23716" y="5330319"/>
            <a:ext cx="164592" cy="164592"/>
          </a:xfrm>
          <a:prstGeom prst="ellipse">
            <a:avLst/>
          </a:prstGeom>
          <a:solidFill>
            <a:srgbClr val="E15554"/>
          </a:solidFill>
        </p:spPr>
      </p:sp>
      <p:sp>
        <p:nvSpPr>
          <p:cNvPr id="10" name="Text 8"/>
          <p:cNvSpPr/>
          <p:nvPr/>
        </p:nvSpPr>
        <p:spPr>
          <a:xfrm>
            <a:off x="7972986" y="5200887"/>
            <a:ext cx="386341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崩盘：</a:t>
            </a:r>
            <a:r>
              <a:rPr lang="en-US" sz="1600" dirty="0" err="1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最高θξ负漂移μ</a:t>
            </a:r>
            <a:r>
              <a:rPr lang="en-US" sz="1600" dirty="0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=−0.2左尾</a:t>
            </a:r>
            <a:r>
              <a:rPr lang="zh-CN" altLang="en-US" sz="1600" dirty="0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肥厚</a:t>
            </a:r>
            <a:endParaRPr 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19" y="5696857"/>
            <a:ext cx="11155679" cy="77271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8100000" algn="bl" rotWithShape="0">
              <a:srgbClr val="1A2A4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19" y="5734203"/>
            <a:ext cx="10632049" cy="643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6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为什么用合成数据？关键不是省钱，而是真值可知。</a:t>
            </a:r>
            <a:endParaRPr 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l">
              <a:lnSpc>
                <a:spcPct val="116000"/>
              </a:lnSpc>
              <a:spcAft>
                <a:spcPts val="300"/>
              </a:spcAft>
              <a:buNone/>
            </a:pPr>
            <a:r>
              <a:rPr lang="en-US" sz="1600" dirty="0" err="1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我们掌握真实数据生成过程</a:t>
            </a:r>
            <a:r>
              <a:rPr lang="zh-CN" altLang="en-US" sz="1600" dirty="0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，</a:t>
            </a:r>
            <a:r>
              <a:rPr lang="en-US" sz="1600" dirty="0" err="1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可用</a:t>
            </a:r>
            <a:r>
              <a:rPr lang="en-US" sz="1600" dirty="0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 10 万条独立 MC </a:t>
            </a:r>
            <a:r>
              <a:rPr lang="en-US" sz="1600" dirty="0" err="1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路径算出无偏期权价格作“预言机</a:t>
            </a:r>
            <a:r>
              <a:rPr lang="en-US" sz="1600" dirty="0">
                <a:solidFill>
                  <a:srgbClr val="5B6B7F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”。</a:t>
            </a:r>
            <a:endParaRPr 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5" name="Image 0" descr="/home/claude/figs/regime_pa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523" y="1684089"/>
            <a:ext cx="5779034" cy="3416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3445" y="594360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区制驱动下的价格生成</a:t>
            </a:r>
            <a:endParaRPr 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195" y="1140854"/>
            <a:ext cx="8795609" cy="5646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920" y="566928"/>
            <a:ext cx="545973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我们怎么衡量“好</a:t>
            </a:r>
            <a:r>
              <a:rPr 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”——三个关键指标</a:t>
            </a:r>
            <a:endParaRPr 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951" y="2048296"/>
            <a:ext cx="364892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buClr>
                <a:srgbClr val="15B5A6"/>
              </a:buClr>
              <a:buFont typeface="Wingdings" panose="05000000000000000000" pitchFamily="2" charset="2"/>
              <a:buChar char="p"/>
            </a:pPr>
            <a:r>
              <a:rPr lang="en-US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期权定价</a:t>
            </a: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RMSE(</a:t>
            </a:r>
            <a:r>
              <a:rPr lang="en-US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首要金融指标</a:t>
            </a: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952" y="2540000"/>
            <a:ext cx="3648924" cy="17562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 10 万条 MC 路径上算“正确价格”，再与生成路径上的价格比较。地板 = 0.165：连真实测试集都做不到更低，任何低于它的“校准值”都可疑。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97694" y="2043997"/>
            <a:ext cx="3648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Clr>
                <a:srgbClr val="15B5A6"/>
              </a:buClr>
              <a:buFont typeface="Wingdings" panose="05000000000000000000" pitchFamily="2" charset="2"/>
              <a:buChar char="p"/>
            </a:pP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峰度 </a:t>
            </a:r>
            <a:r>
              <a:rPr lang="en-US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Kurtosis（程式化事实</a:t>
            </a: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97694" y="2285725"/>
            <a:ext cx="3259134" cy="16551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度量分布“尾部有多肥”。正态分布 = 3；真实金融收益 ≈ 4.6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6437" y="2043997"/>
            <a:ext cx="36489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Clr>
                <a:srgbClr val="15B5A6"/>
              </a:buClr>
              <a:buFont typeface="Wingdings" panose="05000000000000000000" pitchFamily="2" charset="2"/>
              <a:buChar char="p"/>
            </a:pPr>
            <a:r>
              <a:rPr lang="en-US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签名-Wasserstein </a:t>
            </a:r>
            <a:r>
              <a:rPr lang="en-US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距离</a:t>
            </a:r>
            <a:endParaRPr lang="en-US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36437" y="2540000"/>
            <a:ext cx="3259134" cy="14104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5B6B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把整条路径映成“签名”特征（其迭代积分），比较整条路径的分布，而非某个单点。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58951" y="1543794"/>
            <a:ext cx="5532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训练结束之后，用如下指标进行评价</a:t>
            </a:r>
            <a:r>
              <a:rPr lang="en-US" altLang="zh-CN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78524" y="4888440"/>
            <a:ext cx="10199078" cy="1477328"/>
          </a:xfrm>
          <a:prstGeom prst="rect">
            <a:avLst/>
          </a:prstGeom>
          <a:noFill/>
        </p:spPr>
        <p:txBody>
          <a:bodyPr wrap="square" rtlCol="0" anchor="ctr"/>
          <a:lstStyle>
            <a:lvl1pPr marL="285750" indent="-285750">
              <a:buClr>
                <a:srgbClr val="15B5A6"/>
              </a:buClr>
              <a:buFont typeface="Wingdings" panose="05000000000000000000" pitchFamily="2" charset="2"/>
              <a:buChar char="p"/>
              <a:defRPr b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/>
              <a:t>raw </a:t>
            </a:r>
            <a:r>
              <a:rPr lang="zh-CN" altLang="en-US" dirty="0"/>
              <a:t>与 </a:t>
            </a:r>
            <a:r>
              <a:rPr lang="en-US" altLang="zh-CN" dirty="0" err="1"/>
              <a:t>cal:raw</a:t>
            </a:r>
            <a:r>
              <a:rPr lang="en-US" altLang="zh-CN" dirty="0"/>
              <a:t> </a:t>
            </a:r>
            <a:r>
              <a:rPr lang="zh-CN" altLang="en-US" dirty="0"/>
              <a:t>直接用生成器输出</a:t>
            </a:r>
            <a:r>
              <a:rPr lang="zh-CN" altLang="en-US" b="0" dirty="0"/>
              <a:t>。 </a:t>
            </a:r>
            <a:r>
              <a:rPr lang="en-US" altLang="zh-CN" b="0" dirty="0" err="1"/>
              <a:t>cal</a:t>
            </a:r>
            <a:r>
              <a:rPr lang="en-US" altLang="zh-CN" b="0" dirty="0"/>
              <a:t> </a:t>
            </a:r>
            <a:r>
              <a:rPr lang="zh-CN" altLang="en-US" b="0" dirty="0"/>
              <a:t>施加单次仿射矩校准：把池化生成收益标准化后，重缩放到训练数据的收益均值与标准差（故无测试泄漏），再定价。校准对只需价格的从业者合理，但它恰好注入两个主导期权价格的数（前两阶矩）。</a:t>
            </a:r>
            <a:endParaRPr lang="en-US" altLang="zh-CN" b="0" dirty="0"/>
          </a:p>
          <a:p>
            <a:pPr>
              <a:lnSpc>
                <a:spcPct val="150000"/>
              </a:lnSpc>
            </a:pPr>
            <a:r>
              <a:rPr lang="zh-CN" altLang="en-US" dirty="0"/>
              <a:t>地板的意义</a:t>
            </a:r>
            <a:r>
              <a:rPr lang="en-US" altLang="zh-CN" dirty="0"/>
              <a:t>:</a:t>
            </a:r>
            <a:r>
              <a:rPr lang="zh-CN" altLang="en-US" b="0" dirty="0"/>
              <a:t>任何低于 </a:t>
            </a:r>
            <a:r>
              <a:rPr lang="en-US" altLang="zh-CN" b="0" dirty="0"/>
              <a:t>0.165 </a:t>
            </a:r>
            <a:r>
              <a:rPr lang="zh-CN" altLang="en-US" b="0" dirty="0"/>
              <a:t>的 </a:t>
            </a:r>
            <a:r>
              <a:rPr lang="en-US" altLang="zh-CN" b="0" dirty="0" err="1"/>
              <a:t>cal</a:t>
            </a:r>
            <a:r>
              <a:rPr lang="zh-CN" altLang="en-US" b="0" dirty="0"/>
              <a:t>都是校准假象。</a:t>
            </a:r>
            <a:endParaRPr lang="zh-CN" altLang="en-US" b="0" dirty="0"/>
          </a:p>
        </p:txBody>
      </p:sp>
      <p:sp>
        <p:nvSpPr>
          <p:cNvPr id="19" name="Text 2"/>
          <p:cNvSpPr/>
          <p:nvPr/>
        </p:nvSpPr>
        <p:spPr>
          <a:xfrm>
            <a:off x="758951" y="4457384"/>
            <a:ext cx="5532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训练结束之后，用如下指标进行评价</a:t>
            </a:r>
            <a:r>
              <a:rPr lang="en-US" altLang="zh-CN" b="1" dirty="0">
                <a:solidFill>
                  <a:srgbClr val="15B5A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78708" y="3626098"/>
            <a:ext cx="9034584" cy="0"/>
          </a:xfrm>
          <a:prstGeom prst="line">
            <a:avLst/>
          </a:prstGeom>
          <a:ln w="28575">
            <a:solidFill>
              <a:srgbClr val="15B5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0"/>
          <p:cNvSpPr/>
          <p:nvPr/>
        </p:nvSpPr>
        <p:spPr>
          <a:xfrm>
            <a:off x="1578708" y="2905373"/>
            <a:ext cx="903458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建模与训练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建模</a:t>
            </a:r>
            <a:r>
              <a:rPr 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：两阶段、动作条件的流匹配（</a:t>
            </a:r>
            <a:r>
              <a:rPr 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</a:t>
            </a:r>
            <a:r>
              <a:rPr lang="en-US" sz="2400" b="1" dirty="0">
                <a:solidFill>
                  <a:srgbClr val="13233B"/>
                </a:solidFill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）世界模型</a:t>
            </a:r>
            <a:endParaRPr 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1383323" y="3079257"/>
                <a:ext cx="2414955" cy="1289538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选定区制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a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323" y="3079257"/>
                <a:ext cx="2414955" cy="1289538"/>
              </a:xfrm>
              <a:prstGeom prst="rect">
                <a:avLst/>
              </a:prstGeom>
              <a:blipFill rotWithShape="1">
                <a:blip r:embed="rId1"/>
                <a:stretch>
                  <a:fillRect l="-275" t="-503" r="-249" b="-444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4783010" y="1754553"/>
            <a:ext cx="2657231" cy="128953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采样</a:t>
            </a:r>
            <a:r>
              <a:rPr lang="zh-CN" altLang="en-US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漂移项</a:t>
            </a:r>
            <a:endParaRPr lang="en-US" altLang="zh-CN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783013" y="4310185"/>
            <a:ext cx="2657230" cy="128953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采样</a:t>
            </a:r>
            <a:r>
              <a:rPr lang="zh-CN" altLang="en-US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波动项</a:t>
            </a:r>
            <a:endParaRPr lang="en-US" altLang="zh-CN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589102" y="3047998"/>
            <a:ext cx="2414955" cy="128953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推进下一步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132" y="5103423"/>
            <a:ext cx="2127576" cy="39502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33" y="2639063"/>
            <a:ext cx="2494208" cy="317690"/>
          </a:xfrm>
          <a:prstGeom prst="rect">
            <a:avLst/>
          </a:prstGeom>
        </p:spPr>
      </p:pic>
      <p:cxnSp>
        <p:nvCxnSpPr>
          <p:cNvPr id="31" name="连接符: 肘形 30"/>
          <p:cNvCxnSpPr>
            <a:stCxn id="22" idx="0"/>
            <a:endCxn id="23" idx="1"/>
          </p:cNvCxnSpPr>
          <p:nvPr/>
        </p:nvCxnSpPr>
        <p:spPr>
          <a:xfrm rot="5400000" flipH="1" flipV="1">
            <a:off x="3346938" y="1643186"/>
            <a:ext cx="679935" cy="2192209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/>
          <p:cNvCxnSpPr>
            <a:stCxn id="22" idx="2"/>
            <a:endCxn id="24" idx="1"/>
          </p:cNvCxnSpPr>
          <p:nvPr/>
        </p:nvCxnSpPr>
        <p:spPr>
          <a:xfrm rot="16200000" flipH="1">
            <a:off x="3393828" y="3565768"/>
            <a:ext cx="586159" cy="2192212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/>
          <p:cNvCxnSpPr>
            <a:stCxn id="24" idx="3"/>
            <a:endCxn id="25" idx="2"/>
          </p:cNvCxnSpPr>
          <p:nvPr/>
        </p:nvCxnSpPr>
        <p:spPr>
          <a:xfrm flipV="1">
            <a:off x="7440243" y="4337536"/>
            <a:ext cx="2356337" cy="617418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stCxn id="23" idx="3"/>
            <a:endCxn id="25" idx="0"/>
          </p:cNvCxnSpPr>
          <p:nvPr/>
        </p:nvCxnSpPr>
        <p:spPr>
          <a:xfrm>
            <a:off x="7440241" y="2399322"/>
            <a:ext cx="2356339" cy="648676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Flow Matching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与其适应性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153" y="2040132"/>
            <a:ext cx="6401693" cy="714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05877" y="3046714"/>
            <a:ext cx="9980246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方差阶段 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为（归一化对数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为了保障方差大于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0】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）下一方差、 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= (</a:t>
            </a:r>
            <a:r>
              <a:rPr lang="en-US" altLang="zh-CN" b="0" i="1" dirty="0" err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vt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 rt-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 at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收益阶段 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为下一对数收益、 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= (</a:t>
            </a:r>
            <a:r>
              <a:rPr lang="en-US" altLang="zh-CN" b="0" i="1" dirty="0" err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+1]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en-US" altLang="zh-CN" b="0" i="1" dirty="0" err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vt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 rt-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 at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82673" y="1527127"/>
            <a:ext cx="5532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对下一步数值计算损失的</a:t>
            </a: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Flow Matching</a:t>
            </a: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82672" y="4022026"/>
            <a:ext cx="10403451" cy="8668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Flow Matching</a:t>
            </a: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在此处的优势</a:t>
            </a: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本任务的单步条件分布是一维、连续、单峰的</a:t>
            </a:r>
            <a:endParaRPr 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47824" y="4902796"/>
            <a:ext cx="8924925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5B5A6"/>
              </a:buClr>
              <a:buFont typeface="Wingdings" panose="05000000000000000000" pitchFamily="2" charset="2"/>
              <a:buChar char="p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它免对抗，不会像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那样模式崩塌或压扁尾部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这正是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Quant-GAN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的痛点；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15B5A6"/>
              </a:buClr>
              <a:buFont typeface="Wingdings" panose="05000000000000000000" pitchFamily="2" charset="2"/>
              <a:buChar char="p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它学的是直线输运，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ODE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近似仿射，少步积分误差小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Flow Matching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长时改进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82672" y="1370267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单步</a:t>
            </a: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Flow Matching</a:t>
            </a: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的痛点</a:t>
            </a: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teacher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最小化的是逐步回归损失：它学“给定真实的上一时刻，下一时刻像不像”。但它从不优化它在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自由 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rollout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下产生的整条路径的分布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2672" y="2621819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调度采样（</a:t>
            </a: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Scheduled Sampling）</a:t>
            </a: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训练时以概率 p 用模型自身采样的上一期收益替代真值，缓解 exposure bias，让训练时看到的条件分布更接近自由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rollout 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时模型真实分布。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82672" y="3486735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LWFM（Lambert-W Heavy-Tail FM）</a:t>
            </a:r>
            <a:endParaRPr lang="en-US" altLang="zh-CN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2672" y="4200429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 Flow Matching 前对收益做 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Lambert-W 重尾变换，采样时反演。 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可提升峰度（例如 3.88 → 4.3），更接近真实 4.60。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SIGMA（路径分布微调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82625" y="1454150"/>
            <a:ext cx="10072370" cy="7150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用可微 rollout + 严格恰当路径分数闭合逐步训练与自由部署之间的目标缺口。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7426"/>
          <a:stretch>
            <a:fillRect/>
          </a:stretch>
        </p:blipFill>
        <p:spPr>
          <a:xfrm>
            <a:off x="1677670" y="2128520"/>
            <a:ext cx="7564120" cy="546100"/>
          </a:xfrm>
          <a:prstGeom prst="rect">
            <a:avLst/>
          </a:prstGeom>
        </p:spPr>
      </p:pic>
      <p:sp>
        <p:nvSpPr>
          <p:cNvPr id="2" name="Text 2"/>
          <p:cNvSpPr/>
          <p:nvPr/>
        </p:nvSpPr>
        <p:spPr>
          <a:xfrm>
            <a:off x="362585" y="2865755"/>
            <a:ext cx="3562350" cy="1126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Sig-MMD：</a:t>
            </a: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 / 序列结构</a:t>
            </a:r>
            <a:endParaRPr lang="zh-CN" altLang="en-US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endParaRPr lang="en-US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9395" r="25311"/>
          <a:stretch>
            <a:fillRect/>
          </a:stretch>
        </p:blipFill>
        <p:spPr>
          <a:xfrm>
            <a:off x="559435" y="3545840"/>
            <a:ext cx="4426585" cy="5753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4285" y="2790825"/>
            <a:ext cx="3562350" cy="9626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Sig-W1：一阶路径泛函均值</a:t>
            </a:r>
            <a:endParaRPr lang="en-US" altLang="zh-CN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234" y="3630626"/>
            <a:ext cx="2664996" cy="36158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3065" y="4121150"/>
            <a:ext cx="3562350" cy="1126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Energy score：幅度 / 联合尺度</a:t>
            </a:r>
            <a:endParaRPr lang="en-US" altLang="zh-CN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84" y="5019212"/>
            <a:ext cx="4002881" cy="356821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450965" y="4090670"/>
            <a:ext cx="3562350" cy="1126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Lmoment：定价主导矩</a:t>
            </a:r>
            <a:endParaRPr lang="en-US" altLang="zh-CN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50965" y="4785360"/>
            <a:ext cx="4999990" cy="7150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聚合低阶矩、终端方差、绝对收益、峰度匹配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2"/>
          <p:cNvSpPr/>
          <p:nvPr/>
        </p:nvSpPr>
        <p:spPr>
          <a:xfrm>
            <a:off x="2631440" y="5704205"/>
            <a:ext cx="6610350" cy="7150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组合逻辑：时间结构 ⊕ 一阶路径泛函 ⊕ 幅度尺度 ⊕ 定价矩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单用任一分数效果都不好，组合才稳定有效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1081087" y="1981306"/>
            <a:ext cx="10029825" cy="2695258"/>
          </a:xfrm>
          <a:prstGeom prst="rect">
            <a:avLst/>
          </a:prstGeom>
          <a:noFill/>
        </p:spPr>
        <p:txBody>
          <a:bodyPr wrap="square" rtlCol="0" anchor="ctr"/>
          <a:lstStyle>
            <a:lvl1pPr marL="285750" indent="-285750">
              <a:buClr>
                <a:srgbClr val="15B5A6"/>
              </a:buClr>
              <a:buFont typeface="Wingdings" panose="05000000000000000000" pitchFamily="2" charset="2"/>
              <a:buChar char="p"/>
              <a:defRPr b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dirty="0"/>
              <a:t>一致性蒸馏（</a:t>
            </a:r>
            <a:r>
              <a:rPr lang="en-US" altLang="zh-CN" dirty="0"/>
              <a:t>CD</a:t>
            </a:r>
            <a:r>
              <a:rPr lang="zh-CN" altLang="en-US" dirty="0"/>
              <a:t>） </a:t>
            </a:r>
            <a:r>
              <a:rPr lang="zh-CN" altLang="en-US" b="0" dirty="0"/>
              <a:t>学一个其一步输出沿 </a:t>
            </a:r>
            <a:r>
              <a:rPr lang="en-US" altLang="zh-CN" b="0" dirty="0"/>
              <a:t>teacher ODE </a:t>
            </a:r>
            <a:r>
              <a:rPr lang="zh-CN" altLang="en-US" b="0" dirty="0"/>
              <a:t>不变的学生；</a:t>
            </a:r>
            <a:endParaRPr lang="en-US" altLang="zh-CN" b="0" dirty="0"/>
          </a:p>
          <a:p>
            <a:pPr>
              <a:lnSpc>
                <a:spcPct val="200000"/>
              </a:lnSpc>
            </a:pPr>
            <a:r>
              <a:rPr lang="zh-CN" altLang="en-US" dirty="0"/>
              <a:t> </a:t>
            </a:r>
            <a:r>
              <a:rPr lang="en-US" altLang="zh-CN" dirty="0"/>
              <a:t>Mean-Flow</a:t>
            </a:r>
            <a:r>
              <a:rPr lang="zh-CN" altLang="en-US" dirty="0"/>
              <a:t>（</a:t>
            </a:r>
            <a:r>
              <a:rPr lang="en-US" altLang="zh-CN" dirty="0"/>
              <a:t>MF</a:t>
            </a:r>
            <a:r>
              <a:rPr lang="zh-CN" altLang="en-US" dirty="0"/>
              <a:t>）</a:t>
            </a:r>
            <a:r>
              <a:rPr lang="zh-CN" altLang="en-US" b="0" dirty="0"/>
              <a:t>学时间平均速度以一步采样；</a:t>
            </a:r>
            <a:endParaRPr lang="en-US" altLang="zh-CN" b="0" dirty="0"/>
          </a:p>
          <a:p>
            <a:pPr>
              <a:lnSpc>
                <a:spcPct val="200000"/>
              </a:lnSpc>
            </a:pPr>
            <a:r>
              <a:rPr lang="zh-CN" altLang="en-US" dirty="0"/>
              <a:t> </a:t>
            </a:r>
            <a:r>
              <a:rPr lang="en-US" altLang="zh-CN" dirty="0" err="1"/>
              <a:t>Lagrangian</a:t>
            </a:r>
            <a:r>
              <a:rPr lang="en-US" altLang="zh-CN" dirty="0"/>
              <a:t> flow-map  </a:t>
            </a:r>
            <a:r>
              <a:rPr lang="zh-CN" altLang="en-US" b="0" dirty="0"/>
              <a:t>学双时映射                                                             ，沿映射自身轨迹强制</a:t>
            </a:r>
            <a:endParaRPr lang="en-US" altLang="zh-CN" b="0" dirty="0"/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b="0" dirty="0"/>
              <a:t> </a:t>
            </a:r>
            <a:r>
              <a:rPr lang="en-US" altLang="zh-CN" b="0" dirty="0"/>
              <a:t>                                            </a:t>
            </a:r>
            <a:r>
              <a:rPr lang="zh-CN" altLang="en-US" b="0" dirty="0"/>
              <a:t>，并支持 </a:t>
            </a:r>
            <a:r>
              <a:rPr lang="en-US" altLang="zh-CN" b="0" dirty="0"/>
              <a:t>K </a:t>
            </a:r>
            <a:r>
              <a:rPr lang="zh-CN" altLang="en-US" b="0" dirty="0"/>
              <a:t>步复合 。</a:t>
            </a:r>
            <a:endParaRPr lang="zh-CN" altLang="en-US" b="0" dirty="0"/>
          </a:p>
        </p:txBody>
      </p:sp>
      <p:sp>
        <p:nvSpPr>
          <p:cNvPr id="40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蒸馏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 2"/>
          <p:cNvSpPr/>
          <p:nvPr/>
        </p:nvSpPr>
        <p:spPr>
          <a:xfrm>
            <a:off x="682672" y="1370267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我们把 </a:t>
            </a: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teacher </a:t>
            </a: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蒸馏为一步</a:t>
            </a:r>
            <a:r>
              <a:rPr lang="en-US" altLang="zh-CN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少步学生</a:t>
            </a:r>
            <a:r>
              <a:rPr lang="en-US" b="1" dirty="0">
                <a:solidFill>
                  <a:srgbClr val="15B5A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b="1" dirty="0">
              <a:solidFill>
                <a:srgbClr val="15B5A6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099" y="3545652"/>
            <a:ext cx="3338779" cy="341372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26" y="4018609"/>
            <a:ext cx="2314898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78708" y="3626098"/>
            <a:ext cx="9034584" cy="0"/>
          </a:xfrm>
          <a:prstGeom prst="line">
            <a:avLst/>
          </a:prstGeom>
          <a:ln w="28575">
            <a:solidFill>
              <a:srgbClr val="15B5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0"/>
          <p:cNvSpPr/>
          <p:nvPr/>
        </p:nvSpPr>
        <p:spPr>
          <a:xfrm>
            <a:off x="1578708" y="2905373"/>
            <a:ext cx="903458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实验与结果</a:t>
            </a:r>
            <a:endParaRPr 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三区制 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Heston 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任务在自由演化 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rollout 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下的主对比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3007"/>
          <a:stretch>
            <a:fillRect/>
          </a:stretch>
        </p:blipFill>
        <p:spPr>
          <a:xfrm>
            <a:off x="57785" y="1420495"/>
            <a:ext cx="6042660" cy="50412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099" t="841" r="2198"/>
          <a:stretch>
            <a:fillRect/>
          </a:stretch>
        </p:blipFill>
        <p:spPr>
          <a:xfrm>
            <a:off x="6100445" y="1504950"/>
            <a:ext cx="6033770" cy="33121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85560" y="4957445"/>
            <a:ext cx="5289550" cy="1171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基础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 teacher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保持最高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raw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自洽性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SIGMA-Pin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提供最优校准定价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模型的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表现</a:t>
            </a:r>
            <a:endParaRPr lang="zh-CN" altLang="en-US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fig4_fan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605" y="165100"/>
            <a:ext cx="5801360" cy="3394710"/>
          </a:xfrm>
          <a:prstGeom prst="rect">
            <a:avLst/>
          </a:prstGeom>
        </p:spPr>
      </p:pic>
      <p:pic>
        <p:nvPicPr>
          <p:cNvPr id="4" name="图片 3" descr="fig8_option_pric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185" y="3688080"/>
            <a:ext cx="8647430" cy="3169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34010" y="1992630"/>
            <a:ext cx="4483100" cy="1171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模型同时保留了价格路径分布形态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实现了接近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oracle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的期权定价表现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路径分布损失的组件消融（同一 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teacher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1704975"/>
            <a:ext cx="10469245" cy="356743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92272" y="5343429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单项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loss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无法同时保证时间结构、幅度和定价矩，组合严格恰当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loss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才稳定有效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一步蒸馏结果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对比</a:t>
            </a:r>
            <a:endParaRPr lang="zh-CN" altLang="en-US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80" y="1569720"/>
            <a:ext cx="9021445" cy="382397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663190" y="5343525"/>
            <a:ext cx="7447915" cy="1126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一致性蒸馏（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CD）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能在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cal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上超越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teacher，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同时保持合理的峰度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Mean-Flow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蒸馏失败或爆炸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少步 </a:t>
            </a:r>
            <a:r>
              <a:rPr lang="en-US" altLang="zh-CN" sz="2400" b="1" dirty="0" err="1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Lagrangian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flow-map 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学生的 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NFE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）扫描</a:t>
            </a:r>
            <a:endParaRPr 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" y="1692275"/>
            <a:ext cx="6219190" cy="2223135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551227" y="4701444"/>
            <a:ext cx="10072414" cy="11261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增加复合步数并不总是更好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不同指标的最优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NFE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不同，说明 </a:t>
            </a:r>
            <a:r>
              <a:rPr lang="en-US" altLang="zh-CN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2000" dirty="0">
                <a:solidFill>
                  <a:srgbClr val="15B5A6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步复合需权衡指标</a:t>
            </a:r>
            <a:endParaRPr lang="zh-CN" altLang="en-US" sz="2000" dirty="0">
              <a:solidFill>
                <a:srgbClr val="15B5A6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fig3_nfe_kn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955" y="1369695"/>
            <a:ext cx="5657850" cy="39262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核心结果：一条贯穿全文的 </a:t>
            </a:r>
            <a:r>
              <a:rPr lang="en-US" altLang="zh-CN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raw 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校准权衡</a:t>
            </a:r>
            <a:endParaRPr lang="en-US" altLang="zh-CN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db008ecd-a4a7-4693-8739-5871bf7d44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810" y="1257300"/>
            <a:ext cx="7325995" cy="54946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参考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文献</a:t>
            </a:r>
            <a:endParaRPr lang="zh-CN" altLang="en-US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" y="1473835"/>
            <a:ext cx="5768340" cy="4924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175" y="1473835"/>
            <a:ext cx="592963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参考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文献</a:t>
            </a:r>
            <a:endParaRPr lang="zh-CN" altLang="en-US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56055"/>
            <a:ext cx="6096000" cy="4972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6055"/>
            <a:ext cx="590359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873252" y="598932"/>
            <a:ext cx="11155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参考</a:t>
            </a:r>
            <a:r>
              <a:rPr lang="zh-CN" altLang="en-US" sz="2400" b="1" dirty="0">
                <a:solidFill>
                  <a:srgbClr val="13233B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文献</a:t>
            </a:r>
            <a:endParaRPr lang="zh-CN" altLang="en-US" sz="2400" b="1" dirty="0">
              <a:solidFill>
                <a:srgbClr val="13233B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1607185"/>
            <a:ext cx="6061075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0927" y="2331720"/>
            <a:ext cx="365760" cy="365760"/>
          </a:xfrm>
          <a:prstGeom prst="ellipse">
            <a:avLst/>
          </a:prstGeom>
          <a:solidFill>
            <a:srgbClr val="34A56F"/>
          </a:solidFill>
        </p:spPr>
      </p:sp>
      <p:sp>
        <p:nvSpPr>
          <p:cNvPr id="3" name="Shape 1"/>
          <p:cNvSpPr/>
          <p:nvPr/>
        </p:nvSpPr>
        <p:spPr>
          <a:xfrm>
            <a:off x="5901007" y="2331720"/>
            <a:ext cx="365760" cy="365760"/>
          </a:xfrm>
          <a:prstGeom prst="ellipse">
            <a:avLst/>
          </a:prstGeom>
          <a:solidFill>
            <a:srgbClr val="F2A33C"/>
          </a:solidFill>
        </p:spPr>
      </p:sp>
      <p:sp>
        <p:nvSpPr>
          <p:cNvPr id="4" name="Shape 2"/>
          <p:cNvSpPr/>
          <p:nvPr/>
        </p:nvSpPr>
        <p:spPr>
          <a:xfrm>
            <a:off x="6541087" y="2331720"/>
            <a:ext cx="365760" cy="365760"/>
          </a:xfrm>
          <a:prstGeom prst="ellipse">
            <a:avLst/>
          </a:prstGeom>
          <a:solidFill>
            <a:srgbClr val="E15554"/>
          </a:solidFill>
        </p:spPr>
      </p:sp>
      <p:sp>
        <p:nvSpPr>
          <p:cNvPr id="5" name="Text 3"/>
          <p:cNvSpPr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latin typeface="楷体" panose="02010609060101010101" pitchFamily="49" charset="-122"/>
                <a:ea typeface="楷体" panose="02010609060101010101" pitchFamily="49" charset="-122"/>
                <a:cs typeface="Noto Sans CJK JP" pitchFamily="34" charset="-120"/>
              </a:rPr>
              <a:t>谢谢 · 欢迎讨论</a:t>
            </a:r>
            <a:endParaRPr lang="en-US" sz="4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谢若涵 张心一</a:t>
            </a:r>
            <a:endParaRPr 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WPS 演示</Application>
  <PresentationFormat>宽屏</PresentationFormat>
  <Paragraphs>197</Paragraphs>
  <Slides>26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5" baseType="lpstr">
      <vt:lpstr>Arial</vt:lpstr>
      <vt:lpstr>宋体</vt:lpstr>
      <vt:lpstr>Wingdings</vt:lpstr>
      <vt:lpstr>楷体</vt:lpstr>
      <vt:lpstr>Noto Sans CJK JP</vt:lpstr>
      <vt:lpstr>MingLiU-ExtB</vt:lpstr>
      <vt:lpstr>Times New Roman</vt:lpstr>
      <vt:lpstr>微软雅黑</vt:lpstr>
      <vt:lpstr>Arial Unicode MS</vt:lpstr>
      <vt:lpstr>等线</vt:lpstr>
      <vt:lpstr>Cambria Math</vt:lpstr>
      <vt:lpstr>Calibri</vt:lpstr>
      <vt:lpstr>Noto Sans CJK JP</vt:lpstr>
      <vt:lpstr>Wingdings</vt:lpstr>
      <vt:lpstr>Segoe Print</vt:lpstr>
      <vt:lpstr>MS PGothic</vt:lpstr>
      <vt:lpstr>Saturday Sans Regular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谢若涵</cp:lastModifiedBy>
  <cp:revision>53</cp:revision>
  <dcterms:created xsi:type="dcterms:W3CDTF">2026-06-03T14:35:00Z</dcterms:created>
  <dcterms:modified xsi:type="dcterms:W3CDTF">2026-07-02T10:56:28Z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C1CEDAA3D38845C7998EB732C27163BE_13</vt:lpwstr>
  </property>
  <property fmtid="{D5CDD505-2E9C-101B-9397-08002B2CF9AE}" pid="3" name="KSOProductBuildVer">
    <vt:lpwstr>2052-12.1.0.26895</vt:lpwstr>
  </property>
</Properties>
</file>